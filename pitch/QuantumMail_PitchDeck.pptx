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https://www.paloaltonetworks.com/cyberpedia/harvest-now-decrypt-later-hndl
- https://nvlpubs.nist.gov/nistpubs/fips/nist.fips.203.pdf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https://www.nist.gov/news-events/news/2024/08/nist-releases-first-3-finalized-post-quantum-encryption-standards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https://csrc.nist.gov/pubs/fips/203/final
- https://csrc.nist.gov/pubs/fips/204/final
- https://www.paloaltonetworks.com/cyberpedia/harvest-now-decrypt-later-hndl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https://www.factmr.com/report/email-encryption-market
- https://www.marketsandmarkets.com/Market-Reports/email-encryption-market-182623205.html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https://proton.me/support/proton-mail-encryption-explained
- https://tuta.com/secure-email
- https://www.virtru.com/data-security-platform/email-encryption
- https://learn.microsoft.com/en-us/purview/ome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quantummail_assets/icon_mail_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0" y="822960"/>
            <a:ext cx="2011680" cy="2011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32588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QuantumMail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685800" y="2057400"/>
            <a:ext cx="9326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Quantum‑safe secure message links for email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640080" y="2788920"/>
            <a:ext cx="10881360" cy="2148840"/>
          </a:xfrm>
          <a:prstGeom prst="roundRect">
            <a:avLst/>
          </a:prstGeom>
          <a:solidFill>
            <a:srgbClr val="111A33">
              <a:alpha val="90000"/>
            </a:srgbClr>
          </a:solidFill>
          <a:ln w="12700">
            <a:solidFill>
              <a:srgbClr val="23304D">
                <a:alpha val="70000"/>
              </a:srgbClr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60120" y="3063240"/>
            <a:ext cx="10241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8EE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 with existing inboxes (Gmail/Outlook/webmail) via link workflow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8EE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Post‑quantum key exchange (ML‑KEM) + AES‑256‑GCM content encryption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8EE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Keys stay on devices; server stores ciphertext only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85800" y="5669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E3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Pitch deck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653796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QuantumMail —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10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 is where sensitive data still gets shared — and future‑proof confidentiality is now a requirement.</a:t>
            </a:r>
            <a:endParaRPr lang="en-US" sz="1400" dirty="0"/>
          </a:p>
        </p:txBody>
      </p:sp>
      <p:pic>
        <p:nvPicPr>
          <p:cNvPr id="5" name="Image 0" descr="/mnt/data/quantummail_assets/icon_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0" y="1143000"/>
            <a:ext cx="1737360" cy="1737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1143000"/>
            <a:ext cx="8961120" cy="1325880"/>
          </a:xfrm>
          <a:prstGeom prst="roundRect">
            <a:avLst/>
          </a:prstGeom>
          <a:solidFill>
            <a:srgbClr val="111A33">
              <a:alpha val="92000"/>
            </a:srgbClr>
          </a:solidFill>
          <a:ln w="12700">
            <a:solidFill>
              <a:srgbClr val="23304D">
                <a:alpha val="6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5840" y="1307592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“Harvest now, decrypt later” is real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05840" y="1709928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Adversaries can capture encrypted traffic today and decrypt it later once quantum capabilities mature.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85800" y="2606040"/>
            <a:ext cx="8961120" cy="1325880"/>
          </a:xfrm>
          <a:prstGeom prst="roundRect">
            <a:avLst/>
          </a:prstGeom>
          <a:solidFill>
            <a:srgbClr val="111A33">
              <a:alpha val="92000"/>
            </a:srgbClr>
          </a:solidFill>
          <a:ln w="12700">
            <a:solidFill>
              <a:srgbClr val="23304D">
                <a:alpha val="6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2770632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Legacy public‑key crypto is exposed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005840" y="3172968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RSA/ECC‑based key establishment is vulnerable to sufficiently capable quantum computers.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85800" y="4069080"/>
            <a:ext cx="8961120" cy="1325880"/>
          </a:xfrm>
          <a:prstGeom prst="roundRect">
            <a:avLst/>
          </a:prstGeom>
          <a:solidFill>
            <a:srgbClr val="111A33">
              <a:alpha val="92000"/>
            </a:srgbClr>
          </a:solidFill>
          <a:ln w="12700">
            <a:solidFill>
              <a:srgbClr val="23304D">
                <a:alpha val="65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05840" y="4233672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Most teams won't switch email providers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005840" y="4636008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End‑to‑end secure email is great — but adoption stalls when it requires changing inboxes.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48640" y="653796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QuantumMail —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10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secure link workflow that adds post‑quantum protection without changing inboxes.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10835640" cy="1097280"/>
          </a:xfrm>
          <a:prstGeom prst="roundRect">
            <a:avLst/>
          </a:prstGeom>
          <a:solidFill>
            <a:srgbClr val="111A33">
              <a:alpha val="92000"/>
            </a:srgbClr>
          </a:solidFill>
          <a:ln w="12700">
            <a:solidFill>
              <a:srgbClr val="23304D">
                <a:alpha val="6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481328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QuantumMail encrypts the message locally and replaces it with a secure link.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85800" y="2606040"/>
            <a:ext cx="3520440" cy="3611880"/>
          </a:xfrm>
          <a:prstGeom prst="roundRect">
            <a:avLst/>
          </a:prstGeom>
          <a:solidFill>
            <a:srgbClr val="0F1730">
              <a:alpha val="92000"/>
            </a:srgbClr>
          </a:solidFill>
          <a:ln w="12700">
            <a:solidFill>
              <a:srgbClr val="23304D">
                <a:alpha val="60000"/>
              </a:srgbClr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18000"/>
              </a:srgbClr>
            </a:outerShdw>
          </a:effectLst>
        </p:spPr>
      </p:sp>
      <p:pic>
        <p:nvPicPr>
          <p:cNvPr id="8" name="Image 0" descr="/mnt/data/quantummail_assets/icon_mail_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2926080"/>
            <a:ext cx="1234440" cy="12344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416052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Sender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05840" y="457200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Compose normally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Encrypt in browser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link in email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434840" y="2606040"/>
            <a:ext cx="3520440" cy="3611880"/>
          </a:xfrm>
          <a:prstGeom prst="roundRect">
            <a:avLst/>
          </a:prstGeom>
          <a:solidFill>
            <a:srgbClr val="0F1730">
              <a:alpha val="92000"/>
            </a:srgbClr>
          </a:solidFill>
          <a:ln w="12700">
            <a:solidFill>
              <a:srgbClr val="23304D">
                <a:alpha val="60000"/>
              </a:srgbClr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18000"/>
              </a:srgbClr>
            </a:outerShdw>
          </a:effectLst>
        </p:spPr>
      </p:sp>
      <p:pic>
        <p:nvPicPr>
          <p:cNvPr id="12" name="Image 1" descr="/mnt/data/quantummail_assets/icon_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2926080"/>
            <a:ext cx="1234440" cy="12344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34840" y="416052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Server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754880" y="457200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Stores ciphertext only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plaintext keys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expiry/revoke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183880" y="2606040"/>
            <a:ext cx="3520440" cy="3611880"/>
          </a:xfrm>
          <a:prstGeom prst="roundRect">
            <a:avLst/>
          </a:prstGeom>
          <a:solidFill>
            <a:srgbClr val="0F1730">
              <a:alpha val="92000"/>
            </a:srgbClr>
          </a:solidFill>
          <a:ln w="12700">
            <a:solidFill>
              <a:srgbClr val="23304D">
                <a:alpha val="60000"/>
              </a:srgbClr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18000"/>
              </a:srgbClr>
            </a:outerShdw>
          </a:effectLst>
        </p:spPr>
      </p:sp>
      <p:pic>
        <p:nvPicPr>
          <p:cNvPr id="16" name="Image 2" descr="/mnt/data/quantummail_assets/icon_qubi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2926080"/>
            <a:ext cx="1234440" cy="12344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83880" y="416052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Recipient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503920" y="457200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link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Decrypt locally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new mailbox needed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48640" y="653796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QuantumMail —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10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lightweight workflow your team will actually use.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3611880" cy="4526280"/>
          </a:xfrm>
          <a:prstGeom prst="roundRect">
            <a:avLst/>
          </a:prstGeom>
          <a:solidFill>
            <a:srgbClr val="111A33">
              <a:alpha val="92000"/>
            </a:srgbClr>
          </a:solidFill>
          <a:ln w="12700">
            <a:solidFill>
              <a:srgbClr val="23304D">
                <a:alpha val="60000"/>
              </a:srgbClr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1737360"/>
            <a:ext cx="640080" cy="640080"/>
          </a:xfrm>
          <a:prstGeom prst="ellipse">
            <a:avLst/>
          </a:prstGeom>
          <a:solidFill>
            <a:srgbClr val="4DE3C1"/>
          </a:solidFill>
          <a:ln w="12700">
            <a:solidFill>
              <a:srgbClr val="4DE3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200" dirty="0"/>
          </a:p>
        </p:txBody>
      </p:sp>
      <p:pic>
        <p:nvPicPr>
          <p:cNvPr id="8" name="Image 0" descr="/mnt/data/quantummail_assets/icon_qub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1691640"/>
            <a:ext cx="1280160" cy="12801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30175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Generate keys (once)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005840" y="3520440"/>
            <a:ext cx="2971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Recipient generates an ML‑KEM keypair and shares the public key.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26280" y="1417320"/>
            <a:ext cx="3611880" cy="4526280"/>
          </a:xfrm>
          <a:prstGeom prst="roundRect">
            <a:avLst/>
          </a:prstGeom>
          <a:solidFill>
            <a:srgbClr val="111A33">
              <a:alpha val="92000"/>
            </a:srgbClr>
          </a:solidFill>
          <a:ln w="12700">
            <a:solidFill>
              <a:srgbClr val="23304D">
                <a:alpha val="60000"/>
              </a:srgbClr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46320" y="1737360"/>
            <a:ext cx="640080" cy="640080"/>
          </a:xfrm>
          <a:prstGeom prst="ellipse">
            <a:avLst/>
          </a:prstGeom>
          <a:solidFill>
            <a:srgbClr val="4DE3C1"/>
          </a:solidFill>
          <a:ln w="12700">
            <a:solidFill>
              <a:srgbClr val="4DE3C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4632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200" dirty="0"/>
          </a:p>
        </p:txBody>
      </p:sp>
      <p:pic>
        <p:nvPicPr>
          <p:cNvPr id="14" name="Image 1" descr="/mnt/data/quantummail_assets/icon_mail_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691640"/>
            <a:ext cx="1280160" cy="12801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846320" y="30175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Encrypt &amp; send link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4846320" y="3520440"/>
            <a:ext cx="2971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Sender encrypts message content locally and sends a short link via any email.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8366760" y="1417320"/>
            <a:ext cx="3611880" cy="4526280"/>
          </a:xfrm>
          <a:prstGeom prst="roundRect">
            <a:avLst/>
          </a:prstGeom>
          <a:solidFill>
            <a:srgbClr val="111A33">
              <a:alpha val="92000"/>
            </a:srgbClr>
          </a:solidFill>
          <a:ln w="12700">
            <a:solidFill>
              <a:srgbClr val="23304D">
                <a:alpha val="60000"/>
              </a:srgbClr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686800" y="1737360"/>
            <a:ext cx="640080" cy="640080"/>
          </a:xfrm>
          <a:prstGeom prst="ellipse">
            <a:avLst/>
          </a:prstGeom>
          <a:solidFill>
            <a:srgbClr val="4DE3C1"/>
          </a:solidFill>
          <a:ln w="12700">
            <a:solidFill>
              <a:srgbClr val="4DE3C1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68680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200" dirty="0"/>
          </a:p>
        </p:txBody>
      </p:sp>
      <p:pic>
        <p:nvPicPr>
          <p:cNvPr id="20" name="Image 2" descr="/mnt/data/quantummail_assets/icon_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1691640"/>
            <a:ext cx="1280160" cy="12801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686800" y="30175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Open &amp; decrypt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8686800" y="3520440"/>
            <a:ext cx="2971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Recipient opens link and decrypts in‑browser; optional expiry / revoke.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548640" y="653796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QuantumMail —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10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Technology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on standardized post‑quantum primitives + crypto‑agility.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280160"/>
            <a:ext cx="5440680" cy="4846320"/>
          </a:xfrm>
          <a:prstGeom prst="roundRect">
            <a:avLst/>
          </a:prstGeom>
          <a:solidFill>
            <a:srgbClr val="111A33">
              <a:alpha val="92000"/>
            </a:srgbClr>
          </a:solidFill>
          <a:ln w="12700">
            <a:solidFill>
              <a:srgbClr val="23304D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48132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Client-side crypto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828800"/>
            <a:ext cx="50292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ML‑KEM‑768 (FIPS 203) to encapsulate an AES key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AES‑256‑GCM for message encryption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Optional: ML‑DSA (FIPS 204) signatures for sender authentication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Designed for crypto‑agility (swap algorithms as standards evolve)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4434840"/>
            <a:ext cx="5074920" cy="1508760"/>
          </a:xfrm>
          <a:prstGeom prst="roundRect">
            <a:avLst/>
          </a:prstGeom>
          <a:solidFill>
            <a:srgbClr val="0F1730">
              <a:alpha val="90000"/>
            </a:srgbClr>
          </a:solidFill>
          <a:ln w="12700">
            <a:solidFill>
              <a:srgbClr val="23304D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46177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Threat model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489204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long‑lived confidentiality against “harvest now, decrypt later”.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1280160"/>
            <a:ext cx="5120640" cy="4846320"/>
          </a:xfrm>
          <a:prstGeom prst="roundRect">
            <a:avLst/>
          </a:prstGeom>
          <a:solidFill>
            <a:srgbClr val="0F1730">
              <a:alpha val="92000"/>
            </a:srgbClr>
          </a:solidFill>
          <a:ln w="12700">
            <a:solidFill>
              <a:srgbClr val="23304D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148132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architecture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675120" y="1874520"/>
            <a:ext cx="4572000" cy="868680"/>
          </a:xfrm>
          <a:prstGeom prst="roundRect">
            <a:avLst/>
          </a:prstGeom>
          <a:solidFill>
            <a:srgbClr val="111A33">
              <a:alpha val="92000"/>
            </a:srgbClr>
          </a:solidFill>
          <a:ln w="12700">
            <a:solidFill>
              <a:srgbClr val="23304D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03720" y="198424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Browser extension / web app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903720" y="22860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Encrypts &amp; uploads ciphertext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75120" y="2880360"/>
            <a:ext cx="4572000" cy="868680"/>
          </a:xfrm>
          <a:prstGeom prst="roundRect">
            <a:avLst/>
          </a:prstGeom>
          <a:solidFill>
            <a:srgbClr val="111A33">
              <a:alpha val="92000"/>
            </a:srgbClr>
          </a:solidFill>
          <a:ln w="12700">
            <a:solidFill>
              <a:srgbClr val="23304D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03720" y="299008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Storage service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03720" y="32918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Encrypted blobs + metadata only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675120" y="3886200"/>
            <a:ext cx="4572000" cy="868680"/>
          </a:xfrm>
          <a:prstGeom prst="roundRect">
            <a:avLst/>
          </a:prstGeom>
          <a:solidFill>
            <a:srgbClr val="111A33">
              <a:alpha val="92000"/>
            </a:srgbClr>
          </a:solidFill>
          <a:ln w="12700">
            <a:solidFill>
              <a:srgbClr val="23304D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03720" y="399592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Decrypt portal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03720" y="42976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Decrypts locally in recipient browser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675120" y="4892040"/>
            <a:ext cx="4572000" cy="868680"/>
          </a:xfrm>
          <a:prstGeom prst="roundRect">
            <a:avLst/>
          </a:prstGeom>
          <a:solidFill>
            <a:srgbClr val="111A33">
              <a:alpha val="92000"/>
            </a:srgbClr>
          </a:solidFill>
          <a:ln w="12700">
            <a:solidFill>
              <a:srgbClr val="23304D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03720" y="500176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Enterprise add-ons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03720" y="53035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SSO, DLP policy, logging, revocation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53796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QuantumMail —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10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Market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 email is already a multi‑billion market — PQC is a new upgrade cycle.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325880"/>
            <a:ext cx="11475720" cy="2103120"/>
          </a:xfrm>
          <a:prstGeom prst="roundRect">
            <a:avLst/>
          </a:prstGeom>
          <a:solidFill>
            <a:srgbClr val="111A33">
              <a:alpha val="92000"/>
            </a:srgbClr>
          </a:solidFill>
          <a:ln w="12700">
            <a:solidFill>
              <a:srgbClr val="23304D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572768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Email encryption market estimates vary, but analysts consistently project strong growth.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85800" y="3703320"/>
            <a:ext cx="11475720" cy="2377440"/>
          </a:xfrm>
          <a:prstGeom prst="roundRect">
            <a:avLst/>
          </a:prstGeom>
          <a:solidFill>
            <a:srgbClr val="0F1730">
              <a:alpha val="92000"/>
            </a:srgbClr>
          </a:solidFill>
          <a:ln w="12700">
            <a:solidFill>
              <a:srgbClr val="23304D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38862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B4D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forecast (Fact.MR):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416052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DE3C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~$5.1B (2024) → ~$19.75B (2034)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315200" y="388620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Wedge: “quantum readiness” for regulated teams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E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already use Gmail/Outlook.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0" y="4983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B4D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Initial ICPs: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0" y="5285232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Legal / finance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Healthcare &amp; life sciences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Defense contractors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Security-conscious startups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53796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QuantumMail —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10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model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per-seat pricing with enterprise controls.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463040"/>
            <a:ext cx="3657600" cy="4572000"/>
          </a:xfrm>
          <a:prstGeom prst="roundRect">
            <a:avLst/>
          </a:prstGeom>
          <a:solidFill>
            <a:srgbClr val="111A33">
              <a:alpha val="92000"/>
            </a:srgbClr>
          </a:solidFill>
          <a:ln w="12700">
            <a:solidFill>
              <a:srgbClr val="23304D">
                <a:alpha val="60000"/>
              </a:srgbClr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7373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Starter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21488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$8 / user / mo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05840" y="2606040"/>
            <a:ext cx="3017520" cy="18288"/>
          </a:xfrm>
          <a:prstGeom prst="rect">
            <a:avLst/>
          </a:prstGeom>
          <a:solidFill>
            <a:srgbClr val="23304D"/>
          </a:solidFill>
          <a:ln w="12700">
            <a:solidFill>
              <a:srgbClr val="2330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788920"/>
            <a:ext cx="2834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Teams up to 25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 links + passphrase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Basic admin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0" y="1463040"/>
            <a:ext cx="3657600" cy="4572000"/>
          </a:xfrm>
          <a:prstGeom prst="roundRect">
            <a:avLst/>
          </a:prstGeom>
          <a:solidFill>
            <a:srgbClr val="13234B">
              <a:alpha val="92000"/>
            </a:srgbClr>
          </a:solidFill>
          <a:ln w="12700">
            <a:solidFill>
              <a:srgbClr val="4DE3C1"/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17373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92040" y="21488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E3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$15 / user / mo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92040" y="2606040"/>
            <a:ext cx="3017520" cy="18288"/>
          </a:xfrm>
          <a:prstGeom prst="rect">
            <a:avLst/>
          </a:prstGeom>
          <a:solidFill>
            <a:srgbClr val="23304D"/>
          </a:solidFill>
          <a:ln w="12700">
            <a:solidFill>
              <a:srgbClr val="2330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2788920"/>
            <a:ext cx="2834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PQC mode + key directory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Expiry / revoke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logs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458200" y="1463040"/>
            <a:ext cx="3657600" cy="4572000"/>
          </a:xfrm>
          <a:prstGeom prst="roundRect">
            <a:avLst/>
          </a:prstGeom>
          <a:solidFill>
            <a:srgbClr val="111A33">
              <a:alpha val="92000"/>
            </a:srgbClr>
          </a:solidFill>
          <a:ln w="12700">
            <a:solidFill>
              <a:srgbClr val="23304D">
                <a:alpha val="60000"/>
              </a:srgbClr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778240" y="17373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Enterprise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778240" y="21488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778240" y="2606040"/>
            <a:ext cx="3017520" cy="18288"/>
          </a:xfrm>
          <a:prstGeom prst="rect">
            <a:avLst/>
          </a:prstGeom>
          <a:solidFill>
            <a:srgbClr val="23304D"/>
          </a:solidFill>
          <a:ln w="12700">
            <a:solidFill>
              <a:srgbClr val="2330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69680" y="2788920"/>
            <a:ext cx="2834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SSO/SCIM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DLP + policy engine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Dedicated support &amp; SLA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85800" y="6172200"/>
            <a:ext cx="11475720" cy="502920"/>
          </a:xfrm>
          <a:prstGeom prst="roundRect">
            <a:avLst/>
          </a:prstGeom>
          <a:solidFill>
            <a:srgbClr val="0F1730">
              <a:alpha val="92000"/>
            </a:srgbClr>
          </a:solidFill>
          <a:ln w="12700">
            <a:solidFill>
              <a:srgbClr val="23304D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62910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Land &amp; expand: start with secure link workflows → add compliance features → roll out org-wide.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653796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QuantumMail —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10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Competition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complement (not replace) existing inboxes — with a PQC upgrade path.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11475720" cy="3840480"/>
          </a:xfrm>
          <a:prstGeom prst="roundRect">
            <a:avLst/>
          </a:prstGeom>
          <a:solidFill>
            <a:srgbClr val="111A33">
              <a:alpha val="92000"/>
            </a:srgbClr>
          </a:solidFill>
          <a:ln w="12700">
            <a:solidFill>
              <a:srgbClr val="23304D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002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B4D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Alternatives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0" y="160020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B4D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QuantumMail wedge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19659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Proton Mail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267712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Encrypted email provider (E2EE for Proton↔Proton; zero-access storage)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28346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Tuta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3136392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Encrypted email provider; markets post‑quantum cryptography for email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37033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Virtru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4005072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 encryption + access controls integrated into Gmail/Outlook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45720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Microsoft Purview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4873752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Message encryption for Microsoft 365 + recipients on other providers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0" y="1965960"/>
            <a:ext cx="5760720" cy="3291840"/>
          </a:xfrm>
          <a:prstGeom prst="roundRect">
            <a:avLst/>
          </a:prstGeom>
          <a:solidFill>
            <a:srgbClr val="13234B">
              <a:alpha val="92000"/>
            </a:srgbClr>
          </a:solidFill>
          <a:ln w="12700">
            <a:solidFill>
              <a:srgbClr val="4DE3C1"/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20840" y="21488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QuantumMail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720840" y="2606040"/>
            <a:ext cx="5303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E8EE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 with existing inboxes via links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E8EE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Post‑quantum key exchange (ML‑KEM)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E8EE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Zero‑knowledge storage (ciphertext only)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E8EE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policies: expiry, revoke, audit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653796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QuantumMail —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10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Go-to-market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where confidentiality lifetime is long and workflow friction matters.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11475720" cy="4937760"/>
          </a:xfrm>
          <a:prstGeom prst="roundRect">
            <a:avLst/>
          </a:prstGeom>
          <a:solidFill>
            <a:srgbClr val="111A33">
              <a:alpha val="92000"/>
            </a:srgbClr>
          </a:solidFill>
          <a:ln w="12700">
            <a:solidFill>
              <a:srgbClr val="23304D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691640"/>
            <a:ext cx="10972800" cy="1051560"/>
          </a:xfrm>
          <a:prstGeom prst="roundRect">
            <a:avLst/>
          </a:prstGeom>
          <a:solidFill>
            <a:srgbClr val="0F1730">
              <a:alpha val="92000"/>
            </a:srgbClr>
          </a:solidFill>
          <a:ln w="12700">
            <a:solidFill>
              <a:srgbClr val="23304D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18562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DE3C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Beachhead ICP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0" y="1856232"/>
            <a:ext cx="8092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Legal, finance, healthcare, defense suppliers — sensitive docs and long retention.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60120" y="2862072"/>
            <a:ext cx="10972800" cy="1051560"/>
          </a:xfrm>
          <a:prstGeom prst="roundRect">
            <a:avLst/>
          </a:prstGeom>
          <a:solidFill>
            <a:srgbClr val="0F1730">
              <a:alpha val="92000"/>
            </a:srgbClr>
          </a:solidFill>
          <a:ln w="12700">
            <a:solidFill>
              <a:srgbClr val="23304D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4440" y="302666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DE3C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Distribution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0" y="3026664"/>
            <a:ext cx="8092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Security/IT champions, compliance officers, MSPs; outbound + partner channel.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60120" y="4032504"/>
            <a:ext cx="10972800" cy="1051560"/>
          </a:xfrm>
          <a:prstGeom prst="roundRect">
            <a:avLst/>
          </a:prstGeom>
          <a:solidFill>
            <a:srgbClr val="0F1730">
              <a:alpha val="92000"/>
            </a:srgbClr>
          </a:solidFill>
          <a:ln w="12700">
            <a:solidFill>
              <a:srgbClr val="23304D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4440" y="419709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DE3C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Wedge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0" y="4197096"/>
            <a:ext cx="8092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“Secure link” workflow (easy adoption), then upsell PQC directory + admin controls.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60120" y="5202936"/>
            <a:ext cx="10972800" cy="1051560"/>
          </a:xfrm>
          <a:prstGeom prst="roundRect">
            <a:avLst/>
          </a:prstGeom>
          <a:solidFill>
            <a:srgbClr val="0F1730">
              <a:alpha val="92000"/>
            </a:srgbClr>
          </a:solidFill>
          <a:ln w="12700">
            <a:solidFill>
              <a:srgbClr val="23304D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4440" y="5367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DE3C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Proof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57600" y="5367528"/>
            <a:ext cx="8092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program: 2–4 week deployment, usage metrics, and compliance mapping.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653796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QuantumMail —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10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Roadmap &amp; milestones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Ship an adoptable MVP, then harden for enterprise compliance.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600200"/>
            <a:ext cx="3657600" cy="4754880"/>
          </a:xfrm>
          <a:prstGeom prst="roundRect">
            <a:avLst/>
          </a:prstGeom>
          <a:solidFill>
            <a:srgbClr val="13234B">
              <a:alpha val="92000"/>
            </a:srgbClr>
          </a:solidFill>
          <a:ln w="12700">
            <a:solidFill>
              <a:srgbClr val="23304D">
                <a:alpha val="60000"/>
              </a:srgbClr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874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0–3 months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2423160"/>
            <a:ext cx="29260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MVP (secure links)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directory v1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Basic admin + expiry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0" y="1600200"/>
            <a:ext cx="3657600" cy="4754880"/>
          </a:xfrm>
          <a:prstGeom prst="roundRect">
            <a:avLst/>
          </a:prstGeom>
          <a:solidFill>
            <a:srgbClr val="111A33">
              <a:alpha val="92000"/>
            </a:srgbClr>
          </a:solidFill>
          <a:ln w="12700">
            <a:solidFill>
              <a:srgbClr val="23304D">
                <a:alpha val="60000"/>
              </a:srgbClr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874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3–6 months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37760" y="2423160"/>
            <a:ext cx="29260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ML‑DSA signatures + verification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SSO/SCIM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logging + export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458200" y="1600200"/>
            <a:ext cx="3657600" cy="4754880"/>
          </a:xfrm>
          <a:prstGeom prst="roundRect">
            <a:avLst/>
          </a:prstGeom>
          <a:solidFill>
            <a:srgbClr val="111A33">
              <a:alpha val="92000"/>
            </a:srgbClr>
          </a:solidFill>
          <a:ln w="12700">
            <a:solidFill>
              <a:srgbClr val="23304D">
                <a:alpha val="60000"/>
              </a:srgbClr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778240" y="1874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6–12 months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823960" y="2423160"/>
            <a:ext cx="29260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engine (DLP-lite)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Revocation + watermarking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audit + pentest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" y="6355080"/>
            <a:ext cx="11475720" cy="320040"/>
          </a:xfrm>
          <a:prstGeom prst="roundRect">
            <a:avLst/>
          </a:prstGeom>
          <a:solidFill>
            <a:srgbClr val="0F1730">
              <a:alpha val="92000"/>
            </a:srgbClr>
          </a:solidFill>
          <a:ln w="12700">
            <a:solidFill>
              <a:srgbClr val="23304D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640080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 star: “secure communication without changing email.”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53796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QuantumMail —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10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Looking for: security + email infrastructure + GTM execution.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5623560" cy="4937760"/>
          </a:xfrm>
          <a:prstGeom prst="roundRect">
            <a:avLst/>
          </a:prstGeom>
          <a:solidFill>
            <a:srgbClr val="111A33">
              <a:alpha val="92000"/>
            </a:srgbClr>
          </a:solidFill>
          <a:ln w="12700">
            <a:solidFill>
              <a:srgbClr val="23304D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91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Founder (you)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05840" y="2194560"/>
            <a:ext cx="5212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Product vision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Early customer discovery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Build MVP + iterate fast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46520" y="1417320"/>
            <a:ext cx="5715000" cy="4937760"/>
          </a:xfrm>
          <a:prstGeom prst="roundRect">
            <a:avLst/>
          </a:prstGeom>
          <a:solidFill>
            <a:srgbClr val="0F1730">
              <a:alpha val="92000"/>
            </a:srgbClr>
          </a:solidFill>
          <a:ln w="12700">
            <a:solidFill>
              <a:srgbClr val="23304D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0" y="1691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hires / advisors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766560" y="2240280"/>
            <a:ext cx="5303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Cryptography / security engineering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Email/inbox integration (Gmail/Outlook)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sales (compliance buyers)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audit partner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" y="6446520"/>
            <a:ext cx="11475720" cy="320040"/>
          </a:xfrm>
          <a:prstGeom prst="roundRect">
            <a:avLst/>
          </a:prstGeom>
          <a:solidFill>
            <a:srgbClr val="13234B">
              <a:alpha val="92000"/>
            </a:srgbClr>
          </a:solidFill>
          <a:ln w="12700">
            <a:solidFill>
              <a:srgbClr val="23304D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6483096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Optional: replace this slide with your real bio + any prior security / startup experience.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653796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QuantumMail —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10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ask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Looking for pilot customers + early funding to harden and scale.</a:t>
            </a:r>
            <a:endParaRPr lang="en-US" sz="1400" dirty="0"/>
          </a:p>
        </p:txBody>
      </p:sp>
      <p:pic>
        <p:nvPicPr>
          <p:cNvPr id="5" name="Image 0" descr="/mnt/data/quantummail_assets/icon_mail_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1234440"/>
            <a:ext cx="1828800" cy="1828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1417320"/>
            <a:ext cx="8961120" cy="4937760"/>
          </a:xfrm>
          <a:prstGeom prst="roundRect">
            <a:avLst/>
          </a:prstGeom>
          <a:solidFill>
            <a:srgbClr val="111A33">
              <a:alpha val="92000"/>
            </a:srgbClr>
          </a:solidFill>
          <a:ln w="12700">
            <a:solidFill>
              <a:srgbClr val="23304D">
                <a:alpha val="60000"/>
              </a:srgbClr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005840" y="17373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E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we need next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1051560" y="2286000"/>
            <a:ext cx="84124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79400" indent="-279400">
              <a:buSzPct val="100000"/>
              <a:buChar char="•"/>
            </a:pPr>
            <a:r>
              <a:rPr lang="en-US" sz="18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3–5 design partners for pilot deployments</a:t>
            </a:r>
            <a:endParaRPr lang="en-US" sz="1800" dirty="0"/>
          </a:p>
          <a:p>
            <a:pPr marL="279400" indent="-279400">
              <a:buSzPct val="100000"/>
              <a:buChar char="•"/>
            </a:pPr>
            <a:r>
              <a:rPr lang="en-US" sz="18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audit partner + threat modeling</a:t>
            </a:r>
            <a:endParaRPr lang="en-US" sz="1800" dirty="0"/>
          </a:p>
          <a:p>
            <a:pPr marL="279400" indent="-279400">
              <a:buSzPct val="100000"/>
              <a:buChar char="•"/>
            </a:pPr>
            <a:r>
              <a:rPr lang="en-US" sz="18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Pre‑seed funding to hire security + GTM</a:t>
            </a:r>
            <a:endParaRPr lang="en-US" sz="1800" dirty="0"/>
          </a:p>
          <a:p>
            <a:pPr marL="279400" indent="-279400">
              <a:buSzPct val="100000"/>
              <a:buChar char="•"/>
            </a:pPr>
            <a:r>
              <a:rPr lang="en-US" sz="18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Intros to compliance‑heavy orgs (legal, finance, healthcare)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10058400" y="3246120"/>
            <a:ext cx="2103120" cy="3108960"/>
          </a:xfrm>
          <a:prstGeom prst="roundRect">
            <a:avLst/>
          </a:prstGeom>
          <a:solidFill>
            <a:srgbClr val="0F1730">
              <a:alpha val="92000"/>
            </a:srgbClr>
          </a:solidFill>
          <a:ln w="12700">
            <a:solidFill>
              <a:srgbClr val="23304D">
                <a:alpha val="6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195560" y="3429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B4D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demo: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195560" y="3703320"/>
            <a:ext cx="18745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the portal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generate keys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encrypt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share link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decrypt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85800" y="6446520"/>
            <a:ext cx="11475720" cy="320040"/>
          </a:xfrm>
          <a:prstGeom prst="roundRect">
            <a:avLst/>
          </a:prstGeom>
          <a:solidFill>
            <a:srgbClr val="13234B">
              <a:alpha val="92000"/>
            </a:srgbClr>
          </a:solidFill>
          <a:ln w="12700">
            <a:solidFill>
              <a:srgbClr val="23304D">
                <a:alpha val="6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0120" y="6483096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Contact: your@email.com • www.yourdomain.com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640" y="653796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B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QuantumMail — Draft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QuantumMail</dc:creator>
  <cp:lastModifiedBy>QuantumMail</cp:lastModifiedBy>
  <cp:revision>1</cp:revision>
  <dcterms:created xsi:type="dcterms:W3CDTF">2026-01-29T20:59:19Z</dcterms:created>
  <dcterms:modified xsi:type="dcterms:W3CDTF">2026-01-29T20:59:19Z</dcterms:modified>
</cp:coreProperties>
</file>